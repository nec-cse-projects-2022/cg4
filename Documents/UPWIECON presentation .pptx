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1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Arimo" panose="020B0604020202020204"/>
      <p:regular r:id="rId13"/>
    </p:embeddedFont>
    <p:embeddedFont>
      <p:font typeface="Calibri (MS)" panose="020F0502020204030204"/>
      <p:regular r:id="rId14"/>
    </p:embeddedFont>
    <p:embeddedFont>
      <p:font typeface="Aptos" panose="020B00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27077"/>
            <a:ext cx="18288000" cy="3453294"/>
          </a:xfrm>
          <a:custGeom>
            <a:avLst/>
            <a:gdLst/>
            <a:ahLst/>
            <a:cxnLst/>
            <a:rect l="l" t="t" r="r" b="b"/>
            <a:pathLst>
              <a:path w="18288000" h="3453294">
                <a:moveTo>
                  <a:pt x="0" y="0"/>
                </a:moveTo>
                <a:lnTo>
                  <a:pt x="18288000" y="0"/>
                </a:lnTo>
                <a:lnTo>
                  <a:pt x="18288000" y="3453293"/>
                </a:lnTo>
                <a:lnTo>
                  <a:pt x="0" y="34532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1374" y="3450692"/>
            <a:ext cx="17645252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1ˢᵗ IEEE Uttar Pradesh Section Women in Engineering</a:t>
            </a:r>
            <a:endParaRPr lang="en-US" sz="54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ctr">
              <a:lnSpc>
                <a:spcPts val="5040"/>
              </a:lnSpc>
            </a:pPr>
            <a:r>
              <a:rPr lang="en-US" sz="4200" i="1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International Conference on Electrical Electronics and Computer Engineering</a:t>
            </a:r>
            <a:endParaRPr lang="en-US" sz="4200" i="1">
              <a:solidFill>
                <a:srgbClr val="FFFFFF"/>
              </a:solidFill>
              <a:latin typeface="Arimo Italics"/>
              <a:ea typeface="Arimo Italics"/>
              <a:cs typeface="Arimo Italics"/>
              <a:sym typeface="Arimo Italics"/>
            </a:endParaRPr>
          </a:p>
          <a:p>
            <a:pPr algn="l">
              <a:lnSpc>
                <a:spcPts val="504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612926" y="8782050"/>
            <a:ext cx="694881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Presenter Name : Garikapati Aishwarya</a:t>
            </a:r>
            <a:endParaRPr lang="en-US" sz="30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3600"/>
              </a:lnSpc>
            </a:pPr>
            <a:r>
              <a:rPr lang="en-US" sz="3000" i="1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Affiliation : JNTUK</a:t>
            </a:r>
            <a:endParaRPr lang="en-US" sz="3000" i="1">
              <a:solidFill>
                <a:srgbClr val="FFFFFF"/>
              </a:solidFill>
              <a:latin typeface="Arimo Italics"/>
              <a:ea typeface="Arimo Italics"/>
              <a:cs typeface="Arimo Italics"/>
              <a:sym typeface="Arimo Itali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32528" y="443700"/>
            <a:ext cx="3682473" cy="1683785"/>
          </a:xfrm>
          <a:custGeom>
            <a:avLst/>
            <a:gdLst/>
            <a:ahLst/>
            <a:cxnLst/>
            <a:rect l="l" t="t" r="r" b="b"/>
            <a:pathLst>
              <a:path w="3682473" h="1683785">
                <a:moveTo>
                  <a:pt x="0" y="0"/>
                </a:moveTo>
                <a:lnTo>
                  <a:pt x="3682474" y="0"/>
                </a:lnTo>
                <a:lnTo>
                  <a:pt x="3682474" y="1683785"/>
                </a:lnTo>
                <a:lnTo>
                  <a:pt x="0" y="168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 rot="0">
            <a:off x="832527" y="530438"/>
            <a:ext cx="3682474" cy="1153320"/>
            <a:chOff x="0" y="0"/>
            <a:chExt cx="4909966" cy="1537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09947" cy="1537716"/>
            </a:xfrm>
            <a:custGeom>
              <a:avLst/>
              <a:gdLst/>
              <a:ahLst/>
              <a:cxnLst/>
              <a:rect l="l" t="t" r="r" b="b"/>
              <a:pathLst>
                <a:path w="4909947" h="1537716">
                  <a:moveTo>
                    <a:pt x="0" y="0"/>
                  </a:moveTo>
                  <a:lnTo>
                    <a:pt x="4909947" y="0"/>
                  </a:lnTo>
                  <a:lnTo>
                    <a:pt x="4909947" y="1537716"/>
                  </a:lnTo>
                  <a:lnTo>
                    <a:pt x="0" y="1537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5" r="-2" b="-7355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411838" y="6064356"/>
            <a:ext cx="354191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5"/>
              </a:lnSpc>
            </a:pPr>
            <a:r>
              <a:rPr lang="en-US" sz="457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Paper ID: </a:t>
            </a:r>
            <a:r>
              <a:rPr lang="en-US" sz="457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403</a:t>
            </a:r>
            <a:endParaRPr lang="en-US" sz="4570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219254" y="409827"/>
            <a:ext cx="3734498" cy="1875623"/>
          </a:xfrm>
          <a:custGeom>
            <a:avLst/>
            <a:gdLst/>
            <a:ahLst/>
            <a:cxnLst/>
            <a:rect l="l" t="t" r="r" b="b"/>
            <a:pathLst>
              <a:path w="3734498" h="1875623">
                <a:moveTo>
                  <a:pt x="0" y="0"/>
                </a:moveTo>
                <a:lnTo>
                  <a:pt x="3734498" y="0"/>
                </a:lnTo>
                <a:lnTo>
                  <a:pt x="3734498" y="1875622"/>
                </a:lnTo>
                <a:lnTo>
                  <a:pt x="0" y="187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0">
            <a:off x="8208726" y="559556"/>
            <a:ext cx="1710844" cy="1327227"/>
            <a:chOff x="0" y="0"/>
            <a:chExt cx="2281126" cy="1769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1174" cy="1769618"/>
            </a:xfrm>
            <a:custGeom>
              <a:avLst/>
              <a:gdLst/>
              <a:ahLst/>
              <a:cxnLst/>
              <a:rect l="l" t="t" r="r" b="b"/>
              <a:pathLst>
                <a:path w="2281174" h="1769618">
                  <a:moveTo>
                    <a:pt x="0" y="0"/>
                  </a:moveTo>
                  <a:lnTo>
                    <a:pt x="2281174" y="0"/>
                  </a:lnTo>
                  <a:lnTo>
                    <a:pt x="2281174" y="1769618"/>
                  </a:lnTo>
                  <a:lnTo>
                    <a:pt x="0" y="176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-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3887046" y="398134"/>
            <a:ext cx="3682473" cy="1683785"/>
          </a:xfrm>
          <a:custGeom>
            <a:avLst/>
            <a:gdLst/>
            <a:ahLst/>
            <a:cxnLst/>
            <a:rect l="l" t="t" r="r" b="b"/>
            <a:pathLst>
              <a:path w="3682473" h="1683785">
                <a:moveTo>
                  <a:pt x="0" y="0"/>
                </a:moveTo>
                <a:lnTo>
                  <a:pt x="3682473" y="0"/>
                </a:lnTo>
                <a:lnTo>
                  <a:pt x="3682473" y="1683786"/>
                </a:lnTo>
                <a:lnTo>
                  <a:pt x="0" y="1683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 rot="0">
            <a:off x="14197518" y="637234"/>
            <a:ext cx="2874524" cy="994574"/>
            <a:chOff x="0" y="0"/>
            <a:chExt cx="3832698" cy="13260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32733" cy="1326134"/>
            </a:xfrm>
            <a:custGeom>
              <a:avLst/>
              <a:gdLst/>
              <a:ahLst/>
              <a:cxnLst/>
              <a:rect l="l" t="t" r="r" b="b"/>
              <a:pathLst>
                <a:path w="3832733" h="1326134">
                  <a:moveTo>
                    <a:pt x="0" y="0"/>
                  </a:moveTo>
                  <a:lnTo>
                    <a:pt x="3832733" y="0"/>
                  </a:lnTo>
                  <a:lnTo>
                    <a:pt x="3832733" y="1326134"/>
                  </a:lnTo>
                  <a:lnTo>
                    <a:pt x="0" y="1326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2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2885894" y="6962716"/>
            <a:ext cx="14067352" cy="211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5"/>
              </a:lnSpc>
            </a:pPr>
            <a:r>
              <a:rPr lang="en-US" sz="3875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Title: </a:t>
            </a:r>
            <a:r>
              <a:rPr lang="en-US" sz="38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Pre-Owned Car Price Prediction via Cross-Validated Meta-Ensembles and Feature Composites.</a:t>
            </a:r>
            <a:endParaRPr lang="en-US" sz="3875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5425"/>
              </a:lnSpc>
            </a:pPr>
            <a:r>
              <a:rPr lang="en-US" sz="38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endParaRPr lang="en-US" sz="3875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651875" y="2860870"/>
            <a:ext cx="8790885" cy="574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</a:t>
            </a: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Contents</a:t>
            </a:r>
            <a:endParaRPr lang="en-US" sz="420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1. Introduction and Brief Review</a:t>
            </a:r>
            <a:endParaRPr lang="en-US" sz="420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2. Methodology</a:t>
            </a:r>
            <a:endParaRPr lang="en-US" sz="420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3. Experimental Setup</a:t>
            </a:r>
            <a:endParaRPr lang="en-US" sz="420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4. Result and Discussion</a:t>
            </a:r>
            <a:endParaRPr lang="en-US" sz="420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5. Conclusion </a:t>
            </a:r>
            <a:endParaRPr lang="en-US" sz="4200">
              <a:solidFill>
                <a:srgbClr val="000000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918114" y="2163268"/>
            <a:ext cx="6044889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  <a:endParaRPr lang="en-US" sz="5250" b="1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40704" y="2163268"/>
            <a:ext cx="5714262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BRIEF REVIEW</a:t>
            </a:r>
            <a:endParaRPr lang="en-US" sz="5250" b="1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55278" y="3398774"/>
            <a:ext cx="7386432" cy="603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595" lvl="1" indent="-284480" algn="just">
              <a:lnSpc>
                <a:spcPts val="3690"/>
              </a:lnSpc>
              <a:buFont typeface="Arial" panose="020B0604020202090204"/>
              <a:buChar char="•"/>
            </a:pPr>
            <a:r>
              <a:rPr lang="en-US" sz="263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</a:t>
            </a:r>
            <a:r>
              <a:rPr lang="en-US" sz="263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dicting used car resale prices in India is challenging due to diverse, non-linear vehicle attributes.</a:t>
            </a:r>
            <a:endParaRPr lang="en-US" sz="2635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69595" lvl="1" indent="-284480" algn="just">
              <a:lnSpc>
                <a:spcPts val="3690"/>
              </a:lnSpc>
              <a:buFont typeface="Arial" panose="020B0604020202090204"/>
              <a:buChar char="•"/>
            </a:pPr>
            <a:r>
              <a:rPr lang="en-US" sz="263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methods rely on manual estimation and fixed depreciation rules, often inaccurate and inconsistent.</a:t>
            </a:r>
            <a:endParaRPr lang="en-US" sz="2635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69595" lvl="1" indent="-284480" algn="just">
              <a:lnSpc>
                <a:spcPts val="3690"/>
              </a:lnSpc>
              <a:buFont typeface="Arial" panose="020B0604020202090204"/>
              <a:buChar char="•"/>
            </a:pPr>
            <a:r>
              <a:rPr lang="en-US" sz="263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Objective: Develop a machine learning-based regression model for precise, data-driven price forecasting.</a:t>
            </a:r>
            <a:endParaRPr lang="en-US" sz="2635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69595" lvl="1" indent="-284480" algn="just">
              <a:lnSpc>
                <a:spcPts val="3690"/>
              </a:lnSpc>
              <a:buFont typeface="Arial" panose="020B0604020202090204"/>
              <a:buChar char="•"/>
            </a:pPr>
            <a:r>
              <a:rPr lang="en-US" sz="263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a Kaggle dataset usedcars.csv (5,000+ car listings) and deployed results through a Flask web application for real-time valuation.</a:t>
            </a:r>
            <a:endParaRPr lang="en-US" sz="2635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9623990" y="3398774"/>
            <a:ext cx="7024913" cy="5171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Linear Regression models were initially used but struggle with non-linear automotive data.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 Forest and Gradient Boosting (XGBoost, CatBoost) showed higher accuracy and robustness.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nsemble learning further improved R² scores and reduced errors (Chatterjee et al., 2024).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However, most prior work focused on global datasets—few adapted models to Indian market dynamics.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967559" y="2246763"/>
            <a:ext cx="6044889" cy="1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  <a:endParaRPr lang="en-US" sz="5250" b="1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55278" y="3398774"/>
            <a:ext cx="15327028" cy="657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5"/>
              </a:lnSpc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1) Data Source &amp; Preprocessing:</a:t>
            </a:r>
            <a:endParaRPr lang="en-US" sz="264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Used a Kaggle dataset of 5,000+ Indian used cars. Cleaned data by removing outliers (IQR method), converting categorical fields, and engineering new features like price per km and horsepower-to-age ratio.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5"/>
              </a:lnSpc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2) </a:t>
            </a: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Engineering:</a:t>
            </a:r>
            <a:endParaRPr lang="en-US" sz="264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Created domain-specific composite features—brand-wise average price, normalized horsepower, and vehicle age—to capture real market dynamics.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5"/>
              </a:lnSpc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3) Mod</a:t>
            </a: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Development:</a:t>
            </a:r>
            <a:endParaRPr lang="en-US" sz="264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Trained multiple regression models — Decision Tree, Random Forest, XGBoost, CatBoost, AdaBoost, and a Stacked Ensemble (Ridge + XGBoost + LightGBM).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Applied Grid Search and K-Fold Cross Validation for tuning and stability.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5"/>
              </a:lnSpc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4) </a:t>
            </a: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Deployment:</a:t>
            </a:r>
            <a:endParaRPr lang="en-US" sz="264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Integrated the final model into a Flask-based web app for real-time car price prediction, enabling use by dealers, fintechs, and online marketplaces.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441065" y="2246630"/>
            <a:ext cx="9057640" cy="6959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EXPERIMENTAL SETUP</a:t>
            </a:r>
            <a:endParaRPr lang="en-US" sz="5250" b="1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55278" y="3398774"/>
            <a:ext cx="15672990" cy="657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Environment &amp; Tools: 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3.10 (Google Colab) with Scikit-learn, XGBoost, CatBoost, LightGBM, Pandas, NumPy, and Matplotlib.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Split &amp; Validation: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80:20 train–test ratio with 5-fold cross-validation for model stability and tuning.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Preprocessing: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Outlier removal (IQR method), log1p price transformation, numeric conversion for mileage/engine, label encoding, and standard scaling.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Pipeline: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Derived features such as price/km, horsepower-to-age ratio, brand average price, and vehicle age processed via ColumnTransformer and Pipeline.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</a:t>
            </a: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Tuning &amp; Training: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Hyperparameters optimized through Grid Search and early stopping for boosting models; best model selected using CV R² and RMSE.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</a:t>
            </a: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&amp; Validation: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Metrics used — R², RMSE, MAE, and MAPE; validated on 150 unseen examples (91.5% within ±20%).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70230" lvl="1" indent="-285115" algn="just">
              <a:lnSpc>
                <a:spcPts val="3695"/>
              </a:lnSpc>
              <a:buFont typeface="Arial" panose="020B0604020202090204"/>
              <a:buChar char="•"/>
            </a:pP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&amp; R</a:t>
            </a:r>
            <a:r>
              <a:rPr lang="en-US" sz="264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eproducibility:</a:t>
            </a:r>
            <a:r>
              <a:rPr lang="en-US" sz="26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Executed on Colab (GPU enabled) with fixed random seed and environment versioning for reproducibility.</a:t>
            </a:r>
            <a:endParaRPr lang="en-US" sz="26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69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435057" y="4117926"/>
            <a:ext cx="6856411" cy="3942436"/>
          </a:xfrm>
          <a:custGeom>
            <a:avLst/>
            <a:gdLst/>
            <a:ahLst/>
            <a:cxnLst/>
            <a:rect l="l" t="t" r="r" b="b"/>
            <a:pathLst>
              <a:path w="6856411" h="3942436">
                <a:moveTo>
                  <a:pt x="0" y="0"/>
                </a:moveTo>
                <a:lnTo>
                  <a:pt x="6856411" y="0"/>
                </a:lnTo>
                <a:lnTo>
                  <a:pt x="6856411" y="3942437"/>
                </a:lnTo>
                <a:lnTo>
                  <a:pt x="0" y="3942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80790" y="2017395"/>
            <a:ext cx="9458325" cy="8337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 &amp; DISCUSSIONS</a:t>
            </a:r>
            <a:endParaRPr lang="en-US" sz="5250" b="1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7315" y="2950845"/>
            <a:ext cx="9182735" cy="25177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414655" lvl="1" indent="-207010" algn="just">
              <a:lnSpc>
                <a:spcPts val="2685"/>
              </a:lnSpc>
              <a:buFont typeface="Arial" panose="020B0604020202090204"/>
              <a:buChar char="•"/>
            </a:pPr>
            <a:r>
              <a:rPr lang="en-US" sz="192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Comparison:</a:t>
            </a:r>
            <a:endParaRPr lang="en-US" sz="192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Six regressors were tested - Decision Tree, Random Forest, AdaBoost, XGBoost, CatBoost, and Stacking Ensemble.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Stacking Regressor (Ridge + XGBoost + LightGBM) delivered the best performance across all metrics.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14655" lvl="1" indent="-207010" algn="just">
              <a:lnSpc>
                <a:spcPts val="2685"/>
              </a:lnSpc>
              <a:buFont typeface="Arial" panose="020B0604020202090204"/>
              <a:buChar char="•"/>
            </a:pPr>
            <a:r>
              <a:rPr lang="en-US" sz="192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Performance Metrics:</a:t>
            </a:r>
            <a:endParaRPr lang="en-US" sz="192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R² = 0.9886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RMSE = 1.79 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MAE =  0.90 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MAPE = 0.12 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14655" lvl="1" indent="-207010" algn="just">
              <a:lnSpc>
                <a:spcPts val="2685"/>
              </a:lnSpc>
              <a:buFont typeface="Arial" panose="020B0604020202090204"/>
              <a:buChar char="•"/>
            </a:pPr>
            <a:r>
              <a:rPr lang="en-US" sz="192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Insights:</a:t>
            </a:r>
            <a:endParaRPr lang="en-US" sz="192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Brand, mileage, horsepower, and vehicle age were top predictors of price.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CatBoost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individually performed strongly (R² = 0.9848) but was outperformed by the stacked ensemble.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91.5 % of unseen samples were predicted within ±20 % of 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actual price, confirming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model generalization.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14655" lvl="1" indent="-207010" algn="just">
              <a:lnSpc>
                <a:spcPts val="2685"/>
              </a:lnSpc>
              <a:buFont typeface="Arial" panose="020B0604020202090204"/>
              <a:buChar char="•"/>
            </a:pPr>
            <a:r>
              <a:rPr lang="en-US" sz="1920" b="1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Interpretation:</a:t>
            </a:r>
            <a:endParaRPr lang="en-US" sz="1920" b="1">
              <a:solidFill>
                <a:srgbClr val="80008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ensemble captured both linear and non-linear market trends, outperforming standalone models and traditional v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aluation methods.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8675" lvl="2" indent="-276225" algn="just">
              <a:lnSpc>
                <a:spcPts val="2685"/>
              </a:lnSpc>
              <a:buFont typeface="Arial" panose="020B0604020202090204"/>
              <a:buChar char="⚬"/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provides a reliable, scalable solution for real-time used-car price forecasting in the Indian market.</a:t>
            </a:r>
            <a:endParaRPr lang="en-US" sz="192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82498" y="8552993"/>
            <a:ext cx="6161529" cy="36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</a:pPr>
            <a:r>
              <a:rPr lang="en-US" sz="217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fig: Train vs Test Graph for Stacking Ensemble </a:t>
            </a:r>
            <a:endParaRPr lang="en-US" sz="217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764217" y="2016996"/>
            <a:ext cx="4759567" cy="1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  <a:endParaRPr lang="en-US" sz="5250" b="1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54639" y="3369679"/>
            <a:ext cx="9378722" cy="6359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820" lvl="1" indent="-295910" algn="just">
              <a:lnSpc>
                <a:spcPts val="3835"/>
              </a:lnSpc>
              <a:buFont typeface="Arial" panose="020B0604020202090204"/>
              <a:buChar char="•"/>
            </a:pP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a machine learning-based framework for accurate used car price prediction in the Indian market.</a:t>
            </a:r>
            <a:endParaRPr lang="en-US" sz="27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91820" lvl="1" indent="-295910" algn="just">
              <a:lnSpc>
                <a:spcPts val="3835"/>
              </a:lnSpc>
              <a:buFont typeface="Arial" panose="020B0604020202090204"/>
              <a:buChar char="•"/>
            </a:pP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stacked ensemble (Ridge + XGBoost + LightGBM) achieved superior performance with near 99% accuracy (R² = 0.9886).</a:t>
            </a:r>
            <a:endParaRPr lang="en-US" sz="27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91820" lvl="1" indent="-295910" algn="just">
              <a:lnSpc>
                <a:spcPts val="3835"/>
              </a:lnSpc>
              <a:buFont typeface="Arial" panose="020B0604020202090204"/>
              <a:buChar char="•"/>
            </a:pP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engineering - including price-per-km, horsepower-to-age ratio, and brand averages - enhance</a:t>
            </a: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interpretability and precision.</a:t>
            </a:r>
            <a:endParaRPr lang="en-US" sz="27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91820" lvl="1" indent="-295910" algn="just">
              <a:lnSpc>
                <a:spcPts val="3835"/>
              </a:lnSpc>
              <a:buFont typeface="Arial" panose="020B0604020202090204"/>
              <a:buChar char="•"/>
            </a:pP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model effectively captures non-linear market behavior, outperforming traditional regression and single</a:t>
            </a: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ML mod</a:t>
            </a: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els.</a:t>
            </a:r>
            <a:endParaRPr lang="en-US" sz="27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91820" lvl="1" indent="-295910" algn="just">
              <a:lnSpc>
                <a:spcPts val="3835"/>
              </a:lnSpc>
              <a:buFont typeface="Arial" panose="020B0604020202090204"/>
              <a:buChar char="•"/>
            </a:pPr>
            <a:r>
              <a:rPr lang="en-US" sz="27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work: extend to image and text-based data for deeper contextual understanding of car valuation.</a:t>
            </a:r>
            <a:endParaRPr lang="en-US" sz="274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83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4528</Words>
  <Application>WPS Writer</Application>
  <PresentationFormat>On-screen Show (4:3)</PresentationFormat>
  <Paragraphs>91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SimSun</vt:lpstr>
      <vt:lpstr>Wingdings</vt:lpstr>
      <vt:lpstr>Arimo</vt:lpstr>
      <vt:lpstr>Arimo Italics</vt:lpstr>
      <vt:lpstr>Thonburi</vt:lpstr>
      <vt:lpstr>Calibri (MS)</vt:lpstr>
      <vt:lpstr>Calibri (MS) Bold</vt:lpstr>
      <vt:lpstr>Aptos</vt:lpstr>
      <vt:lpstr>Arial</vt:lpstr>
      <vt:lpstr>Canva Sans Bold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WIECON presentation template.pptx</dc:title>
  <dc:creator/>
  <cp:lastModifiedBy>Garikapati Aishwarya</cp:lastModifiedBy>
  <cp:revision>3</cp:revision>
  <dcterms:created xsi:type="dcterms:W3CDTF">2026-02-03T19:14:02Z</dcterms:created>
  <dcterms:modified xsi:type="dcterms:W3CDTF">2026-02-03T19:14:02Z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12193A60CFA94E64CB4882693E14C7AC_42</vt:lpwstr>
  </property>
  <property fmtid="{D5CDD505-2E9C-101B-9397-08002B2CF9AE}" pid="3" name="KSOProductBuildVer">
    <vt:lpwstr>1033-6.13.1.8710</vt:lpwstr>
  </property>
</Properties>
</file>